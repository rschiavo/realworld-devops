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</c:v>
                </c:pt>
              </c:strCache>
            </c:strRef>
          </c:tx>
          <c:spPr>
            <a:ln w="38100" cap="flat">
              <a:solidFill>
                <a:srgbClr val="00E5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E5FF"/>
              </a:solidFill>
              <a:ln w="9525" cap="flat">
                <a:solidFill>
                  <a:srgbClr val="00E5FF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14:20</c:v>
                </c:pt>
                <c:pt idx="1">
                  <c:v>14:21</c:v>
                </c:pt>
                <c:pt idx="2">
                  <c:v>14:22</c:v>
                </c:pt>
                <c:pt idx="3">
                  <c:v>14:23</c:v>
                </c:pt>
                <c:pt idx="4">
                  <c:v>14:24</c:v>
                </c:pt>
                <c:pt idx="5">
                  <c:v>14:25</c:v>
                </c:pt>
                <c:pt idx="6">
                  <c:v>14:26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35</c:v>
                </c:pt>
                <c:pt idx="2">
                  <c:v>65</c:v>
                </c:pt>
                <c:pt idx="3">
                  <c:v>90</c:v>
                </c:pt>
                <c:pt idx="4">
                  <c:v>75</c:v>
                </c:pt>
                <c:pt idx="5">
                  <c:v>30</c:v>
                </c:pt>
                <c:pt idx="6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7C9-44DC-BD56-B59281CC1A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92A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92A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11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1346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1A2A4A"/>
          </a:solidFill>
          <a:ln w="12700">
            <a:solidFill>
              <a:srgbClr val="1E3A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0" y="50292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E5FF"/>
                </a:solidFill>
              </a:rPr>
              <a:t>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389120" y="45720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0D2A3A"/>
          </a:solidFill>
          <a:ln w="12700">
            <a:solidFill>
              <a:srgbClr val="0E4A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0" y="50292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🐳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 err="1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</a:t>
            </a:r>
            <a:r>
              <a:rPr lang="en-US" sz="44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Plataforma &amp;</a:t>
            </a:r>
            <a:endParaRPr lang="en-US" sz="4400" dirty="0"/>
          </a:p>
          <a:p>
            <a:pPr marL="0" indent="0" algn="ctr">
              <a:buNone/>
            </a:pPr>
            <a:r>
              <a:rPr lang="en-US" sz="4400" b="1" dirty="0" err="1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Resiliência</a:t>
            </a:r>
            <a:r>
              <a:rPr lang="en-US" sz="44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400" b="1" dirty="0" err="1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Operacional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Orquestração, Automação de Deploy e Observabilidade de Sistemas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931920" y="3749040"/>
            <a:ext cx="1280160" cy="45720"/>
          </a:xfrm>
          <a:prstGeom prst="rect">
            <a:avLst/>
          </a:prstGeom>
          <a:solidFill>
            <a:srgbClr val="00B4CC"/>
          </a:solidFill>
          <a:ln w="12700">
            <a:solidFill>
              <a:srgbClr val="00B4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31920"/>
            <a:ext cx="7315200" cy="561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pt-BR" dirty="0">
                <a:solidFill>
                  <a:schemeClr val="bg1">
                    <a:lumMod val="95000"/>
                  </a:schemeClr>
                </a:solidFill>
              </a:rPr>
              <a:t>Teste </a:t>
            </a:r>
            <a:r>
              <a:rPr lang="pt-BR" dirty="0" err="1">
                <a:solidFill>
                  <a:schemeClr val="bg1">
                    <a:lumMod val="95000"/>
                  </a:schemeClr>
                </a:solidFill>
              </a:rPr>
              <a:t>DevOps</a:t>
            </a:r>
            <a:r>
              <a:rPr lang="pt-BR" dirty="0">
                <a:solidFill>
                  <a:schemeClr val="bg1">
                    <a:lumMod val="95000"/>
                  </a:schemeClr>
                </a:solidFill>
              </a:rPr>
              <a:t> Azure </a:t>
            </a:r>
            <a:r>
              <a:rPr lang="pt-BR" dirty="0" err="1">
                <a:solidFill>
                  <a:schemeClr val="bg1">
                    <a:lumMod val="95000"/>
                  </a:schemeClr>
                </a:solidFill>
              </a:rPr>
              <a:t>Unecont</a:t>
            </a:r>
            <a:endParaRPr lang="pt-BR" dirty="0">
              <a:solidFill>
                <a:schemeClr val="bg1">
                  <a:lumMod val="95000"/>
                </a:schemeClr>
              </a:solidFill>
            </a:endParaRPr>
          </a:p>
          <a:p>
            <a:br>
              <a:rPr lang="pt-BR" sz="1200" dirty="0"/>
            </a:b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0D2A2A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VISÃO GERAL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de Resiliência em 5 Frentes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sanar problemas crônicos de entrega manual, desenhamos uma esteira e cluster operando de forma integrada na máquina local: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93852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Dockerização Otimizada (Multi-stage + Non-root)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2402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Orquestração Nativa local (Kind + HA + Probes)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5420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Esteira CI/CD Segura com GitHub Container Registry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84378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Observabilidade Centralizada (Grafana / Loki / Prometheus)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14553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 Controlador de Deploy com Auto-rollback Inteligente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611880"/>
            <a:ext cx="841248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6576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FLUXO ARQUITETURAL COMPACTO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2336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12848" y="4389120"/>
            <a:ext cx="23774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68880" y="402336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02336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CI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041648" y="4389120"/>
            <a:ext cx="237744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402336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092222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402336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GHCR Registry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0" y="388620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61A10"/>
          </a:solidFill>
          <a:ln w="25400">
            <a:solidFill>
              <a:srgbClr val="00C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38862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K8s Kind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4224528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224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Pod 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29400" y="452628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45262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8D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Pod 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61888" y="4389120"/>
            <a:ext cx="502920" cy="0"/>
          </a:xfrm>
          <a:prstGeom prst="line">
            <a:avLst/>
          </a:prstGeom>
          <a:noFill/>
          <a:ln w="25400">
            <a:solidFill>
              <a:srgbClr val="00E5FF"/>
            </a:solidFill>
            <a:prstDash val="dash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1A0D2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1: DOCKER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Altamente Otimizado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Criámos um modelo de build estruturado de alto padrão focado em segurança e redução drástica de pegada em disco: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5FF"/>
                </a:solidFill>
              </a:rPr>
              <a:t>✔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8745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Multi-stage Build Real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130552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 compilação, compilers e pacotes dev expiram no builder. A imagem final copia apenas os binários de produção compilados.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06040"/>
            <a:ext cx="365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5FF"/>
                </a:solidFill>
              </a:rPr>
              <a:t>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Mitigação de Segurança Non-root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907792"/>
            <a:ext cx="7132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 explícita para o utilizador node comum. Bloqueia a execução como utilizador root dentro do container, evitando escapes de segurança.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1600200"/>
          </a:xfrm>
          <a:prstGeom prst="roundRect">
            <a:avLst>
              <a:gd name="adj" fmla="val 5714"/>
            </a:avLst>
          </a:prstGeom>
          <a:solidFill>
            <a:srgbClr val="0D111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930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DOCKERFILE ESTRUTURAL (PREVIEW)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0" y="349300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Node.js Production-Ready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767328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Estágio 1: Build &amp; Compilação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node:20-bookworm-slim AS builder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005072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/usr/src/app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123944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package*.json ./  |  RUN npm ci  |  COPY . 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4242816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npx prisma generate &amp;&amp; npx nx build api --prod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4480560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Estágio 2: Runner Limpo de Produção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599432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node:20-bookworm-slim AS runner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4718304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node  |  WORKDIR /usr/src/app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837176"/>
            <a:ext cx="804672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--chown=node:node --from=builder /usr/src/app/dist ./dist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1A0D2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1: DOCKER COMPOSE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Isoladas e Persistência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 local consolidado via `docker-compose.yml` garante reprodutibilidade total das infraestruturas corporativas: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A0D2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Isolamento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1856232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e API comunicam-se via DNS interno na mesma rede bridge.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7627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91A2A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7627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Parâmetros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91640" y="2203704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injetadas no container mantêm o código imutável.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61A1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2374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Persistência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91640" y="2551176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volumes do Docker preservam coleções do MongoDB após reset.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8229600" cy="2011680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108960"/>
            <a:ext cx="36576" cy="5029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06324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 MONGO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" y="3264408"/>
            <a:ext cx="7680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realworld-db: mongo:6.0-jammy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" y="3429000"/>
            <a:ext cx="7680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Volume: mongo_data:/data/db (Dados Persistentes)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730752"/>
            <a:ext cx="36576" cy="5029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685032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 API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" y="3886200"/>
            <a:ext cx="7680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realworld-api: node-app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" y="4050792"/>
            <a:ext cx="7680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Environment: MONGODB_URI=mongodb://realworld-db:27017/conduit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352544"/>
            <a:ext cx="36576" cy="5029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306824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LOGGING DRIVER LIMITS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3232" y="4507992"/>
            <a:ext cx="7680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max-size: "10m" | max-file: "3"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" y="4672584"/>
            <a:ext cx="7680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Proteção física contra estouros de espaço em disco no nó.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091A0D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2: KUBERNETES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Desacoplamento e Abstração Estável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cluster local Kind, isolamos as responsabilidades estruturais usando os manifestos estáveis: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745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ConfigMap api-config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variáveis globais de ambiente (MONGODB_URI, PORT) residem fora do pod, facilitando rotações sem recriar infraestruturas.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603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ClusterIP Services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porta de rede virtual estável (porta 80) canaliza o tráfego e realiza o balanceamento interno de carga round-robin entre os Pods.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8229600" cy="1783080"/>
          </a:xfrm>
          <a:prstGeom prst="roundRect">
            <a:avLst>
              <a:gd name="adj" fmla="val 5128"/>
            </a:avLst>
          </a:prstGeom>
          <a:solidFill>
            <a:srgbClr val="0D111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10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 STRUCTURE PREVIEW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331012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Configuração Centralizada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3735324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ConfigMap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" y="3904488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MONGODB_URI: "mongodb://mongo-service:27017/conduit"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4073652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" y="4242816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Abstração Estável de Rede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4411980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Service  |  name: api-service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0080" y="4581144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 - port: 80  targetPort: 3000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4750308"/>
            <a:ext cx="8046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selector: app: realworld-api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1A0820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2: RESILIÊNCIA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Disponibilidade e Auto-escalonamento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garantir resiliência contra falhas aplicativas e picos de acessos abruptos ao vivo na banca: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Replicas estáveis: 2 pods concorrentes ativos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Readiness Probe: initialDelay 45s (segurança de boot)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Liveness Probe: monitorização activa na rota /api/tags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HPA: Escala automática de 2 a 5 pods a 70% CPU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9923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DIAGRAMA DE AUTO-ESCALONAMENTO (HPA)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2461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Cenário Normal (CPU &lt; 70%)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32461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PODS ATIVOS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52044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92222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04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api-pod-1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51760" y="352044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092222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35204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api-pod-2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52044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663440" y="35204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desativado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9776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Pico de Carga (CPU &gt; 70%)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9776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AUTO-SCALE EM ATIVIDADE (5 PODS)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25196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092222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251960"/>
            <a:ext cx="14447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pod-1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67128" y="425196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092222"/>
          </a:solidFill>
          <a:ln w="25400">
            <a:solidFill>
              <a:srgbClr val="00E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67128" y="4251960"/>
            <a:ext cx="14447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pod-2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739896" y="425196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092222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39896" y="4251960"/>
            <a:ext cx="14447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pod-3 (auto)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12664" y="425196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092222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12664" y="4251960"/>
            <a:ext cx="14447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pod-4 (auto)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85432" y="425196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092222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5432" y="4251960"/>
            <a:ext cx="14447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pod-5 (auto)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0D2A1A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3: PIPELINE CI/CD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de Integração Contínua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desenhado no GitHub Actions garante a imutabilidade e integridade das imagens publicadas no GHCR: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901952"/>
            <a:ext cx="749808" cy="347472"/>
          </a:xfrm>
          <a:prstGeom prst="roundRect">
            <a:avLst>
              <a:gd name="adj" fmla="val 21053"/>
            </a:avLst>
          </a:prstGeom>
          <a:solidFill>
            <a:srgbClr val="061A1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01952"/>
            <a:ext cx="749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463040" y="1892808"/>
            <a:ext cx="7040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de Pull Request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63040" y="2121408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automatizada de Lint, testes unitários e build de validação. O merge na branch principal fica condicionado à aprovação.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651760"/>
            <a:ext cx="749808" cy="347472"/>
          </a:xfrm>
          <a:prstGeom prst="roundRect">
            <a:avLst>
              <a:gd name="adj" fmla="val 21053"/>
            </a:avLst>
          </a:prstGeom>
          <a:solidFill>
            <a:srgbClr val="061A1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651760"/>
            <a:ext cx="749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63040" y="2642616"/>
            <a:ext cx="7040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e Release no GHCR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2871216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Aprovado o PR, a esteira compila a versão oficial estável, tagueia de forma semântica/hash e publica no GitHub Container Registry de forma imutável.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4472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 github-workflow-deploy.yml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721608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Gatilho de push estável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863340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005072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4146804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 main ]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4288536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430268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build-and-push: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4572000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713732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Log in to GitHub Container Registry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4855464"/>
            <a:ext cx="8046720" cy="1417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run: echo "${{ secrets.GITHUB_TOKEN }}" | docker login ghcr.io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0D2A1A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4: OBSERVABILIDADE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Unificada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Estruturámos um stack nativo de observabilidade via Docker Compose que unifica logs estruturados e telemetria física: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10512"/>
            <a:ext cx="384048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47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LOKI &amp; PROMTAIL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Agregação e indexação de todos os logs das consoles dos containers.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1810512"/>
            <a:ext cx="384048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47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1214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 temporal de métricas coletadas em endpoints dedicados.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5968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CADVISOR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8254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métricas de baixo nível (CPU, Memory, Disk, Network I/O).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1810512"/>
          </a:xfrm>
          <a:prstGeom prst="roundRect">
            <a:avLst>
              <a:gd name="adj" fmla="val 5051"/>
            </a:avLst>
          </a:prstGeom>
          <a:solidFill>
            <a:srgbClr val="0D111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644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MONITORING • PROMQL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0" y="326440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 SCRAPING</a:t>
            </a:r>
            <a:endParaRPr lang="en-US" sz="9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548640" y="3493008"/>
          <a:ext cx="8046720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 16"/>
          <p:cNvSpPr/>
          <p:nvPr/>
        </p:nvSpPr>
        <p:spPr>
          <a:xfrm>
            <a:off x="640080" y="4754880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promtail_target_sync: target is synchronized with loki endpoint http://loki:3100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1A0D0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4: DEPURAÇÃO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 de Diagnóstico Real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os testes de observabilidade, identificámos e corrigimos um erro clássico de barramento no boot do container do Promtail: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1A1205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9280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SINTOMA: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1671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container crashava com o erro: 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60520" y="2185416"/>
            <a:ext cx="1371600" cy="246888"/>
          </a:xfrm>
          <a:prstGeom prst="roundRect">
            <a:avLst>
              <a:gd name="adj" fmla="val 22222"/>
            </a:avLst>
          </a:prstGeom>
          <a:solidFill>
            <a:srgbClr val="2A1A0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60520" y="2185416"/>
            <a:ext cx="1371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a directory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577840" y="21671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tentar ler o arquivo de configuração do Promtail.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072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CAUSA RAIZ E RESOLUÇÃO DE PRODUÇÃO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06324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Raiz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3375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utilizar volumes mapeados, se o arquivo local na máquina host não existir fisicamente no momento do boot, o Docker Engine assume de forma errada que se trata de uma pasta nova e cria uma estrutura de diretórios vazios com o nome do arquivo configurado dentro do container.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Resolução Definitiva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187952"/>
            <a:ext cx="7863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Mapeámos os caminhos de volumes relativos exatos no docker-compose.yml.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416552"/>
            <a:ext cx="7863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Utilizámos o comando docker-compose down -v para purgar todos os volumes falsos em cache.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645152"/>
            <a:ext cx="78638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Forçámos a recriação limpa do container, reestabelecendo a saúde das métricas em tempo real.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1A0D0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5: AUTOMAÇÃO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en-US" sz="32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Controlador</a:t>
            </a: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item 5 de automação, fomos além e desenvolvemos a esteira de maior complexidade operacional: Deploy Inteligente com Rollback Integrado: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A0D2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508760" y="1856232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Dispara a imagem de forma atômica via set image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7627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A0D2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08760" y="2203704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 o status e calibra o timeout seguro em 120 segundos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A0D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2374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Failsafe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508760" y="2551176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Reverte para a versão estável prévia se detectar falha de pods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03871"/>
            <a:ext cx="8229600" cy="2209191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671" y="29574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deploy_k8s.py  •  ANATOMIA DO FLUXO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50375" y="2937839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 Subprocess Handler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291840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monitorar_e_validar():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440887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comando_status = [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589934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"kubectl", "rollout", "status", f"deployment/{DEPLOYMENT_NAME}",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738982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f"--namespace={NAMESPACE}", f"--timeout={TIMEOUT_SECONDS}s"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888029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037076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codigo, stdout, stderr = executar_comando(comando_status)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4335170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codigo == 0: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484218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print("✅ SUCESSO: Deploy concluído e saudável!")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4633265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" y="4782312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disparar_alerta(f"O Rollout falhou! Erro: {stderr}")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931359"/>
            <a:ext cx="8046720" cy="14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executar_rollback()</a:t>
            </a:r>
            <a:endParaRPr lang="en-US" sz="900" dirty="0"/>
          </a:p>
        </p:txBody>
      </p: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EC83E7F6-88ED-EEFA-480B-08F20430AFC7}"/>
              </a:ext>
            </a:extLst>
          </p:cNvPr>
          <p:cNvCxnSpPr/>
          <p:nvPr/>
        </p:nvCxnSpPr>
        <p:spPr>
          <a:xfrm flipV="1">
            <a:off x="457200" y="3139007"/>
            <a:ext cx="8183880" cy="1959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061A10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5: VALIDAÇÃO AO VIVO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de Resiliência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Clique nos botões abaixo para simular as duas saídas de terminal do script que provam a maturidade do nosso fail-safe: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62010"/>
          </a:solidFill>
          <a:ln w="25400">
            <a:solidFill>
              <a:srgbClr val="00C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928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A: Caminho Feliz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nova imagem v3 passa nas Probes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B: Autorreparação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898648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imagem falha e reverte os pods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1719072"/>
          </a:xfrm>
          <a:prstGeom prst="roundRect">
            <a:avLst>
              <a:gd name="adj" fmla="val 6383"/>
            </a:avLst>
          </a:prstGeom>
          <a:solidFill>
            <a:srgbClr val="0D0D0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291840"/>
            <a:ext cx="8229600" cy="292608"/>
          </a:xfrm>
          <a:prstGeom prst="roundRect">
            <a:avLst>
              <a:gd name="adj" fmla="val 37500"/>
            </a:avLst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39242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39242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339242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31927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 •  D:\realworld-devops\scripts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63016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D:\realworld-devops\scripts&gt; python deploy_k8s.py realworld-devops-api:v3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379018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🚀 Iniciando o deploy da nova imagem: realworld-devops-api:v3...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395020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✨ Imagem aplicada com sucesso no cluster. Monitorando o Rollout...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94360" y="411022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⏳ Aguardando a conclusão do rollout (Timeout: 120s)...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4360" y="427024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========================================================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443026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SUCESSO: O deploy foi concluído e a aplicação está saudável!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" y="459028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========================================================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4750308"/>
            <a:ext cx="7955280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D:\realworld-devops\scripts&gt;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04257" cy="27432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0425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 err="1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Visão</a:t>
            </a:r>
            <a:r>
              <a:rPr lang="en-US" sz="900" b="1" kern="0" spc="100" dirty="0">
                <a:solidFill>
                  <a:srgbClr val="00C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 Futuro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</a:t>
            </a: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Escala Real de </a:t>
            </a:r>
            <a:r>
              <a:rPr lang="en-US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44996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1400" dirty="0">
                <a:solidFill>
                  <a:schemeClr val="bg1"/>
                </a:solidFill>
              </a:rPr>
              <a:t>Para migrar este ecossistema local com total segurança regulamentar para uma nuvem corporativa de alta escala (</a:t>
            </a:r>
            <a:r>
              <a:rPr lang="pt-BR" sz="1400" dirty="0" err="1">
                <a:solidFill>
                  <a:schemeClr val="bg1"/>
                </a:solidFill>
              </a:rPr>
              <a:t>ex</a:t>
            </a:r>
            <a:r>
              <a:rPr lang="pt-BR" sz="1400" dirty="0">
                <a:solidFill>
                  <a:schemeClr val="bg1"/>
                </a:solidFill>
              </a:rPr>
              <a:t>: Azure/AWS):</a:t>
            </a:r>
          </a:p>
          <a:p>
            <a:br>
              <a:rPr lang="pt-BR" sz="1400" dirty="0"/>
            </a:br>
            <a:endParaRPr lang="en-US" sz="1300" dirty="0"/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5A87CD0C-9182-325D-0385-285B85E49E04}"/>
              </a:ext>
            </a:extLst>
          </p:cNvPr>
          <p:cNvSpPr/>
          <p:nvPr/>
        </p:nvSpPr>
        <p:spPr>
          <a:xfrm>
            <a:off x="4602480" y="2322571"/>
            <a:ext cx="384048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r>
              <a:rPr lang="en-US" sz="9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 | EKS Cluster</a:t>
            </a:r>
            <a:endParaRPr lang="en-US" sz="900" dirty="0">
              <a:solidFill>
                <a:srgbClr val="7030A0"/>
              </a:solidFill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E7DB1848-C6FC-E2B2-D526-35E5443908B5}"/>
              </a:ext>
            </a:extLst>
          </p:cNvPr>
          <p:cNvSpPr/>
          <p:nvPr/>
        </p:nvSpPr>
        <p:spPr>
          <a:xfrm>
            <a:off x="457200" y="2322571"/>
            <a:ext cx="384048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r>
              <a:rPr lang="en-US" sz="900" b="1" dirty="0" err="1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Cofres</a:t>
            </a:r>
            <a:r>
              <a:rPr lang="en-US" sz="9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n-US" sz="900" b="1" dirty="0" err="1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Segredos</a:t>
            </a:r>
            <a:endParaRPr lang="en-US" sz="900" dirty="0"/>
          </a:p>
          <a:p>
            <a:endParaRPr lang="pt-BR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A44BAEA9-9F4F-70EA-B8DF-753622C1CA7A}"/>
              </a:ext>
            </a:extLst>
          </p:cNvPr>
          <p:cNvSpPr/>
          <p:nvPr/>
        </p:nvSpPr>
        <p:spPr>
          <a:xfrm>
            <a:off x="4602480" y="3469494"/>
            <a:ext cx="384048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r>
              <a:rPr lang="en-US" sz="9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Controller</a:t>
            </a:r>
            <a:endParaRPr lang="en-US" sz="900" dirty="0">
              <a:solidFill>
                <a:srgbClr val="FFC000"/>
              </a:solidFill>
            </a:endParaRPr>
          </a:p>
          <a:p>
            <a:endParaRPr lang="pt-BR" dirty="0"/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14AB22A2-323D-717F-11D6-09502F8B1CB8}"/>
              </a:ext>
            </a:extLst>
          </p:cNvPr>
          <p:cNvSpPr/>
          <p:nvPr/>
        </p:nvSpPr>
        <p:spPr>
          <a:xfrm>
            <a:off x="457200" y="3469494"/>
            <a:ext cx="3840480" cy="68580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r>
              <a:rPr lang="en-US" sz="9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</a:t>
            </a:r>
            <a:r>
              <a:rPr lang="en-US" sz="900" b="1" dirty="0" err="1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Gerido</a:t>
            </a:r>
            <a:br>
              <a:rPr lang="en-US" sz="9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n-US" sz="900" b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pt-BR" sz="900" dirty="0">
                <a:solidFill>
                  <a:srgbClr val="00B050"/>
                </a:solidFill>
              </a:rPr>
            </a:br>
            <a:endParaRPr lang="en-US" sz="900" dirty="0">
              <a:solidFill>
                <a:srgbClr val="00B050"/>
              </a:solidFill>
            </a:endParaRPr>
          </a:p>
          <a:p>
            <a:endParaRPr lang="pt-BR" dirty="0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D1D80770-432B-B7C6-4997-FAA67249BCFB}"/>
              </a:ext>
            </a:extLst>
          </p:cNvPr>
          <p:cNvSpPr txBox="1"/>
          <p:nvPr/>
        </p:nvSpPr>
        <p:spPr>
          <a:xfrm>
            <a:off x="457199" y="3690258"/>
            <a:ext cx="384047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dirty="0">
                <a:solidFill>
                  <a:schemeClr val="bg1"/>
                </a:solidFill>
              </a:rPr>
              <a:t>Substituir volumes locais por serviços globais como o Azure Cosmos DB com APIs dedicadas, garantindo backups automatizados.</a:t>
            </a:r>
          </a:p>
          <a:p>
            <a:endParaRPr lang="pt-BR" sz="90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2AB6E2B8-02BC-5E6D-F91D-DBD7594612C2}"/>
              </a:ext>
            </a:extLst>
          </p:cNvPr>
          <p:cNvSpPr txBox="1"/>
          <p:nvPr/>
        </p:nvSpPr>
        <p:spPr>
          <a:xfrm>
            <a:off x="4602480" y="3690258"/>
            <a:ext cx="38404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dirty="0">
                <a:solidFill>
                  <a:schemeClr val="bg1"/>
                </a:solidFill>
              </a:rPr>
              <a:t>Implementação de NGINX </a:t>
            </a:r>
            <a:r>
              <a:rPr lang="pt-BR" sz="900" dirty="0" err="1">
                <a:solidFill>
                  <a:schemeClr val="bg1"/>
                </a:solidFill>
              </a:rPr>
              <a:t>Ingress</a:t>
            </a:r>
            <a:r>
              <a:rPr lang="pt-BR" sz="900" dirty="0">
                <a:solidFill>
                  <a:schemeClr val="bg1"/>
                </a:solidFill>
              </a:rPr>
              <a:t> </a:t>
            </a:r>
            <a:r>
              <a:rPr lang="pt-BR" sz="900" dirty="0" err="1">
                <a:solidFill>
                  <a:schemeClr val="bg1"/>
                </a:solidFill>
              </a:rPr>
              <a:t>Controller</a:t>
            </a:r>
            <a:r>
              <a:rPr lang="pt-BR" sz="900" dirty="0">
                <a:solidFill>
                  <a:schemeClr val="bg1"/>
                </a:solidFill>
              </a:rPr>
              <a:t> integrado ao </a:t>
            </a:r>
            <a:r>
              <a:rPr lang="pt-BR" sz="900" dirty="0" err="1">
                <a:solidFill>
                  <a:schemeClr val="bg1"/>
                </a:solidFill>
              </a:rPr>
              <a:t>Cert</a:t>
            </a:r>
            <a:r>
              <a:rPr lang="pt-BR" sz="900" dirty="0">
                <a:solidFill>
                  <a:schemeClr val="bg1"/>
                </a:solidFill>
              </a:rPr>
              <a:t>-Manager para SSL/TLS obrigatório ponta-a-ponta (HTTPS).</a:t>
            </a:r>
          </a:p>
          <a:p>
            <a:br>
              <a:rPr lang="pt-BR" sz="900" dirty="0"/>
            </a:br>
            <a:endParaRPr lang="pt-BR" sz="9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B38E2EBA-6674-15C4-79BF-13F2D92DB85A}"/>
              </a:ext>
            </a:extLst>
          </p:cNvPr>
          <p:cNvSpPr txBox="1"/>
          <p:nvPr/>
        </p:nvSpPr>
        <p:spPr>
          <a:xfrm>
            <a:off x="4602482" y="2571750"/>
            <a:ext cx="394062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dirty="0">
                <a:solidFill>
                  <a:schemeClr val="bg1"/>
                </a:solidFill>
              </a:rPr>
              <a:t>Substituir o Kind local por instâncias geridas </a:t>
            </a:r>
            <a:r>
              <a:rPr lang="pt-BR" sz="900" dirty="0" err="1">
                <a:solidFill>
                  <a:schemeClr val="bg1"/>
                </a:solidFill>
              </a:rPr>
              <a:t>multi-região</a:t>
            </a:r>
            <a:r>
              <a:rPr lang="pt-BR" sz="900" dirty="0">
                <a:solidFill>
                  <a:schemeClr val="bg1"/>
                </a:solidFill>
              </a:rPr>
              <a:t> com redundância física em zonas de disponibilidade separadas.</a:t>
            </a:r>
          </a:p>
          <a:p>
            <a:br>
              <a:rPr lang="pt-BR" sz="900" dirty="0"/>
            </a:br>
            <a:br>
              <a:rPr lang="pt-BR" sz="900" dirty="0"/>
            </a:br>
            <a:endParaRPr lang="pt-BR" sz="900" dirty="0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3726EC33-28E4-0F1A-DE61-C43D473E371C}"/>
              </a:ext>
            </a:extLst>
          </p:cNvPr>
          <p:cNvSpPr txBox="1"/>
          <p:nvPr/>
        </p:nvSpPr>
        <p:spPr>
          <a:xfrm>
            <a:off x="457198" y="2597366"/>
            <a:ext cx="38404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dirty="0">
                <a:solidFill>
                  <a:schemeClr val="bg1"/>
                </a:solidFill>
              </a:rPr>
              <a:t>Substituir </a:t>
            </a:r>
            <a:r>
              <a:rPr lang="pt-BR" sz="900" dirty="0" err="1">
                <a:solidFill>
                  <a:schemeClr val="bg1"/>
                </a:solidFill>
              </a:rPr>
              <a:t>ConfigMaps</a:t>
            </a:r>
            <a:r>
              <a:rPr lang="pt-BR" sz="900" dirty="0">
                <a:solidFill>
                  <a:schemeClr val="bg1"/>
                </a:solidFill>
              </a:rPr>
              <a:t> por cofres de senhas externos de alta segurança, como o </a:t>
            </a:r>
            <a:r>
              <a:rPr lang="pt-BR" sz="900" dirty="0" err="1">
                <a:solidFill>
                  <a:schemeClr val="bg1"/>
                </a:solidFill>
              </a:rPr>
              <a:t>HashiCorp</a:t>
            </a:r>
            <a:r>
              <a:rPr lang="pt-BR" sz="900" dirty="0">
                <a:solidFill>
                  <a:schemeClr val="bg1"/>
                </a:solidFill>
              </a:rPr>
              <a:t> </a:t>
            </a:r>
            <a:r>
              <a:rPr lang="pt-BR" sz="900" dirty="0" err="1">
                <a:solidFill>
                  <a:schemeClr val="bg1"/>
                </a:solidFill>
              </a:rPr>
              <a:t>Vault</a:t>
            </a:r>
            <a:r>
              <a:rPr lang="pt-BR" sz="900" dirty="0">
                <a:solidFill>
                  <a:schemeClr val="bg1"/>
                </a:solidFill>
              </a:rPr>
              <a:t> ou Azure Key </a:t>
            </a:r>
            <a:r>
              <a:rPr lang="pt-BR" sz="900" dirty="0" err="1">
                <a:solidFill>
                  <a:schemeClr val="bg1"/>
                </a:solidFill>
              </a:rPr>
              <a:t>Vault</a:t>
            </a:r>
            <a:r>
              <a:rPr lang="pt-BR" sz="900" dirty="0">
                <a:solidFill>
                  <a:schemeClr val="bg1"/>
                </a:solidFill>
              </a:rPr>
              <a:t>.</a:t>
            </a:r>
          </a:p>
          <a:p>
            <a:br>
              <a:rPr lang="pt-BR" sz="900" dirty="0"/>
            </a:b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1528</Words>
  <Application>Microsoft Office PowerPoint</Application>
  <PresentationFormat>Apresentação na tela (16:9)</PresentationFormat>
  <Paragraphs>207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Engenharia de Plataforma &amp; Resiliência Operacional</dc:title>
  <dc:subject>PptxGenJS Presentation</dc:subject>
  <dc:creator>PptxGenJS</dc:creator>
  <cp:lastModifiedBy>Rodrigo Schiavo LEite</cp:lastModifiedBy>
  <cp:revision>5</cp:revision>
  <dcterms:created xsi:type="dcterms:W3CDTF">2026-06-28T19:09:16Z</dcterms:created>
  <dcterms:modified xsi:type="dcterms:W3CDTF">2026-06-29T14:10:13Z</dcterms:modified>
</cp:coreProperties>
</file>